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6961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36576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95160" y="36576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06640" y="36576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18120" y="36576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0" y="36576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77724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95160" y="77724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06640" y="77724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818120" y="77724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0" y="77724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83680" y="118872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995160" y="118872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06640" y="118872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818120" y="118872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0" y="118872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83680" y="160020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160020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06640" y="160020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818120" y="160020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29600" y="160020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83680" y="201168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995160" y="201168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406640" y="201168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818120" y="201168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29600" y="201168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22D3EE"/>
                </a:solidFill>
              </a:rPr>
              <a:t>FRONTIER AI  · </a:t>
            </a:r>
          </a:p>
          <a:p>
            <a:pPr marL="0" indent="0" algn="ctr">
              <a:buNone/>
            </a:pPr>
            <a:r>
              <a:rPr lang="en-US" sz="900" b="1" kern="0" spc="300" dirty="0">
                <a:solidFill>
                  <a:srgbClr val="22D3EE"/>
                </a:solidFill>
              </a:rPr>
              <a:t> ELI LILLY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14630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DMTA Agentic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Automation</a:t>
            </a:r>
            <a:endParaRPr lang="en-US" sz="5200" dirty="0"/>
          </a:p>
        </p:txBody>
      </p:sp>
      <p:sp>
        <p:nvSpPr>
          <p:cNvPr id="31" name="Text 29"/>
          <p:cNvSpPr/>
          <p:nvPr/>
        </p:nvSpPr>
        <p:spPr>
          <a:xfrm>
            <a:off x="457200" y="333756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Make · Test · Analyze 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Dimitrios John Kastrinakis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22MAY2026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·  Instrument Abstraction  ·  Human-in-the-Loop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operated these instruments. I built the agent on top.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3931920" cy="3200400"/>
          </a:xfrm>
          <a:prstGeom prst="rect">
            <a:avLst/>
          </a:prstGeom>
          <a:solidFill>
            <a:srgbClr val="0D1E35"/>
          </a:solidFill>
          <a:ln w="12700">
            <a:solidFill>
              <a:srgbClr val="4AD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2926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AUTOMATION BACKGROUND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Cell Therapy Automation Engineer @ BMS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 STAR · Opentrons · Beckman Coulter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Tecan · Dynamic Devices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Workflows: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culture · DNA extraction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therapy processing · Amplicon/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RhampSeq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(on/off target edit testing)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4114800" cy="3200400"/>
          </a:xfrm>
          <a:prstGeom prst="rect">
            <a:avLst/>
          </a:prstGeom>
          <a:solidFill>
            <a:srgbClr val="0D1E35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411480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1417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IN ONE AFTERNOON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09160" y="1810512"/>
            <a:ext cx="3794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DMTA agent loop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Claude API calls for Design + Analyze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 abstraction with mock/real toggle points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approval gate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convergence scoring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SSE + Pydantic + Docker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viewer UI for demo + interview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 is slow because humans manually run every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20240" cy="1645920"/>
          </a:xfrm>
          <a:prstGeom prst="rect">
            <a:avLst/>
          </a:prstGeom>
          <a:solidFill>
            <a:srgbClr val="0D1E35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92024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proposes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compounds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2377440"/>
            <a:ext cx="2286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95728" y="226771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554480"/>
            <a:ext cx="1920240" cy="1645920"/>
          </a:xfrm>
          <a:prstGeom prst="rect">
            <a:avLst/>
          </a:prstGeom>
          <a:solidFill>
            <a:srgbClr val="0D1E35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1554480"/>
            <a:ext cx="1920240" cy="2926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06040" y="1554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19202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dispenses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384-well plate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26280" y="2377440"/>
            <a:ext cx="2286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44568" y="226771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554480"/>
            <a:ext cx="1920240" cy="1645920"/>
          </a:xfrm>
          <a:prstGeom prst="rect">
            <a:avLst/>
          </a:prstGeom>
          <a:solidFill>
            <a:srgbClr val="0D1E3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554480"/>
            <a:ext cx="19202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1554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19202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reader runs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assay panel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2377440"/>
            <a:ext cx="2286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93408" y="226771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1554480"/>
            <a:ext cx="1920240" cy="1645920"/>
          </a:xfrm>
          <a:prstGeom prst="rect">
            <a:avLst/>
          </a:prstGeom>
          <a:solidFill>
            <a:srgbClr val="0D1E35"/>
          </a:solidFill>
          <a:ln w="12700">
            <a:solidFill>
              <a:srgbClr val="4AD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903720" y="1554480"/>
            <a:ext cx="1920240" cy="2926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03720" y="1554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03720" y="19202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reads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manually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2377440" cy="502920"/>
          </a:xfrm>
          <a:prstGeom prst="rect">
            <a:avLst/>
          </a:prstGeom>
          <a:solidFill>
            <a:srgbClr val="1A0808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Weeks per cycle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383280" y="3429000"/>
            <a:ext cx="2377440" cy="502920"/>
          </a:xfrm>
          <a:prstGeom prst="rect">
            <a:avLst/>
          </a:prstGeom>
          <a:solidFill>
            <a:srgbClr val="1A0808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8328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errors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43600" y="3429000"/>
            <a:ext cx="2377440" cy="502920"/>
          </a:xfrm>
          <a:prstGeom prst="rect">
            <a:avLst/>
          </a:prstGeom>
          <a:solidFill>
            <a:srgbClr val="1A0808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closed loop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closes the loop autonomously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566160" y="1737360"/>
            <a:ext cx="2011680" cy="20116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566160" y="173736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2103120" cy="1280160"/>
          </a:xfrm>
          <a:prstGeom prst="rect">
            <a:avLst/>
          </a:prstGeom>
          <a:solidFill>
            <a:srgbClr val="0D1E35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210312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proposes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1783080"/>
            <a:ext cx="2103120" cy="1280160"/>
          </a:xfrm>
          <a:prstGeom prst="rect">
            <a:avLst/>
          </a:prstGeom>
          <a:solidFill>
            <a:srgbClr val="0D1E35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0" y="1783080"/>
            <a:ext cx="2103120" cy="2560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1783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0" y="21031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workhorse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2103120" cy="1280160"/>
          </a:xfrm>
          <a:prstGeom prst="rect">
            <a:avLst/>
          </a:prstGeom>
          <a:solidFill>
            <a:srgbClr val="0D1E35"/>
          </a:solidFill>
          <a:ln w="12700">
            <a:solidFill>
              <a:srgbClr val="4AD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2103120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063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reasons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results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3063240"/>
            <a:ext cx="2103120" cy="1280160"/>
          </a:xfrm>
          <a:prstGeom prst="rect">
            <a:avLst/>
          </a:prstGeom>
          <a:solidFill>
            <a:srgbClr val="0D1E3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83680" y="3063240"/>
            <a:ext cx="21031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0" y="3063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0" y="338328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Assay station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4023360"/>
            <a:ext cx="2560320" cy="457200"/>
          </a:xfrm>
          <a:prstGeom prst="rect">
            <a:avLst/>
          </a:prstGeom>
          <a:solidFill>
            <a:srgbClr val="0F0A00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91840" y="4023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Scientist approval gate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iterations · Real Claude API · Hamilton abstraction layer · Human-in-the-loop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isolated and independently replaceable &amp; modular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1308"/>
            <a:ext cx="8412480" cy="1005840"/>
          </a:xfrm>
          <a:prstGeom prst="rect">
            <a:avLst/>
          </a:prstGeom>
          <a:solidFill>
            <a:srgbClr val="0D1E35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56032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—  AGENT REASONING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566239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Design phase: proposes compounds with real SAR reasoning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Analyze phase: reasons over assay data, extracts trends, decides next steps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1005840"/>
          </a:xfrm>
          <a:prstGeom prst="rect">
            <a:avLst/>
          </a:prstGeom>
          <a:solidFill>
            <a:srgbClr val="0D1E3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25603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—  VALIDATION + HUMAN GATE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85292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 validation on every agent output 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Approval gate pauses agent between iterations 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Scientist can Approve / Edit direction / Stop campaign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703320"/>
            <a:ext cx="8412480" cy="1005840"/>
          </a:xfrm>
          <a:prstGeom prst="rect">
            <a:avLst/>
          </a:prstGeom>
          <a:solidFill>
            <a:srgbClr val="0D1E35"/>
          </a:solidFill>
          <a:ln w="12700">
            <a:solidFill>
              <a:srgbClr val="4AD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703320"/>
            <a:ext cx="256032" cy="10058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70985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—  INSTRUMENT ABSTRACTION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4002461"/>
            <a:ext cx="7863840" cy="608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never touches SDK directly 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Hamilton STAR class wraps VENUS 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Swap Hamilton → Tecan → Opentrons by replacing just one class  </a:t>
            </a:r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doesn't mean unmonitored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194560" cy="2560320"/>
          </a:xfrm>
          <a:prstGeom prst="rect">
            <a:avLst/>
          </a:prstGeom>
          <a:solidFill>
            <a:srgbClr val="0D1E35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19456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→ Make → Test → Analyze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compound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SAR trends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Convergence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Proposed next steps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ACC15"/>
                </a:solidFill>
              </a:rPr>
              <a:t>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26080" y="1463040"/>
            <a:ext cx="2743200" cy="2560320"/>
          </a:xfrm>
          <a:prstGeom prst="rect">
            <a:avLst/>
          </a:prstGeom>
          <a:solidFill>
            <a:srgbClr val="0F0A00"/>
          </a:solidFill>
          <a:ln w="12700">
            <a:solidFill>
              <a:srgbClr val="FACC1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26080" y="1463040"/>
            <a:ext cx="2743200" cy="292608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6080" y="1463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SCIENTIST REVIEW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17520" y="182880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pauses.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 stays open.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asyncio.Event() blocks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scientist responds.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1500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651760" cy="2560320"/>
          </a:xfrm>
          <a:prstGeom prst="rect">
            <a:avLst/>
          </a:prstGeom>
          <a:solidFill>
            <a:srgbClr val="0D1E35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1463040"/>
            <a:ext cx="2651760" cy="2926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0" y="14630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DECISIONS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874520"/>
            <a:ext cx="2468880" cy="566928"/>
          </a:xfrm>
          <a:prstGeom prst="rect">
            <a:avLst/>
          </a:prstGeom>
          <a:solidFill>
            <a:srgbClr val="060D1C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187452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APPROVE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187452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continues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planned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2578608"/>
            <a:ext cx="2468880" cy="566928"/>
          </a:xfrm>
          <a:prstGeom prst="rect">
            <a:avLst/>
          </a:prstGeom>
          <a:solidFill>
            <a:srgbClr val="060D1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257860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EDIT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2578608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injected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next Design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3282696"/>
            <a:ext cx="2468880" cy="566928"/>
          </a:xfrm>
          <a:prstGeom prst="rect">
            <a:avLst/>
          </a:prstGeom>
          <a:solidFill>
            <a:srgbClr val="060D1C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26480" y="3282696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⏹  STOP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3282696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advances to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optimizes. Humans gate. If something looks wrong, the burden is on the agent to convince the scientist to continue — not the other way around.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convergence score across 5 assay outputs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1965960" cy="2194560"/>
          </a:xfrm>
          <a:prstGeom prst="rect">
            <a:avLst/>
          </a:prstGeom>
          <a:solidFill>
            <a:srgbClr val="0D1E35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96596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IC50 (nM)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960120" cy="411480"/>
          </a:xfrm>
          <a:prstGeom prst="rect">
            <a:avLst/>
          </a:prstGeom>
          <a:solidFill>
            <a:srgbClr val="060D1C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22860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nM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633472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Potency — does it hit JAK2?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371600"/>
            <a:ext cx="1965960" cy="2194560"/>
          </a:xfrm>
          <a:prstGeom prst="rect">
            <a:avLst/>
          </a:prstGeom>
          <a:solidFill>
            <a:srgbClr val="0D1E35"/>
          </a:solidFill>
          <a:ln w="12700">
            <a:solidFill>
              <a:srgbClr val="4AD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68880" y="1371600"/>
            <a:ext cx="1965960" cy="2743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6888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71800" y="1783080"/>
            <a:ext cx="960120" cy="411480"/>
          </a:xfrm>
          <a:prstGeom prst="rect">
            <a:avLst/>
          </a:prstGeom>
          <a:solidFill>
            <a:srgbClr val="060D1C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71800" y="17830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68880" y="22860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100× JAK1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2633472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— avoids JAK1 side effects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1371600"/>
            <a:ext cx="1965960" cy="2194560"/>
          </a:xfrm>
          <a:prstGeom prst="rect">
            <a:avLst/>
          </a:prstGeom>
          <a:solidFill>
            <a:srgbClr val="0D1E35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1371600"/>
            <a:ext cx="1965960" cy="274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1772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Solubility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1783080"/>
            <a:ext cx="960120" cy="411480"/>
          </a:xfrm>
          <a:prstGeom prst="rect">
            <a:avLst/>
          </a:prstGeom>
          <a:solidFill>
            <a:srgbClr val="060D1C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20640" y="17830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617720" y="22860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 μg/mL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17720" y="2633472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— can the body take it up?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1371600"/>
            <a:ext cx="1965960" cy="2194560"/>
          </a:xfrm>
          <a:prstGeom prst="rect">
            <a:avLst/>
          </a:prstGeom>
          <a:solidFill>
            <a:srgbClr val="0D1E3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66560" y="1371600"/>
            <a:ext cx="19659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6656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HLM t½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69480" y="1783080"/>
            <a:ext cx="960120" cy="411480"/>
          </a:xfrm>
          <a:prstGeom prst="rect">
            <a:avLst/>
          </a:prstGeom>
          <a:solidFill>
            <a:srgbClr val="060D1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269480" y="17830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766560" y="22860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60 min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66560" y="2633472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— does it last long enough?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749040"/>
            <a:ext cx="8503920" cy="77724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" y="37490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Score  =  Σ weight × sigmoid(value / target)  →  0–100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ENGINEERING 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never talks to the instrument directly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377440" cy="2194560"/>
          </a:xfrm>
          <a:prstGeom prst="rect">
            <a:avLst/>
          </a:prstGeom>
          <a:solidFill>
            <a:srgbClr val="0D1E35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37744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1945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Emits structured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 only: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dispense(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compound_id,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well, plate,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volume_nl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88920" y="2423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DE80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560320" cy="2194560"/>
          </a:xfrm>
          <a:prstGeom prst="rect">
            <a:avLst/>
          </a:prstGeom>
          <a:solidFill>
            <a:srgbClr val="0D1E35"/>
          </a:solidFill>
          <a:ln w="12700">
            <a:solidFill>
              <a:srgbClr val="4AD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560320" cy="2926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LAYER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182880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Pydantic validates job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Routes to driver class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Handles errors/retries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Returns typed result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97880" y="2423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DE80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0" y="1463040"/>
            <a:ext cx="2286000" cy="2194560"/>
          </a:xfrm>
          <a:prstGeom prst="rect">
            <a:avLst/>
          </a:prstGeom>
          <a:solidFill>
            <a:srgbClr val="0D1E35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0" y="1463040"/>
            <a:ext cx="2286000" cy="2926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1463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1828800"/>
            <a:ext cx="2103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 VENUS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Tecan FluentCtrl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Opentrons API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Beckman SDK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= 1 class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886200"/>
            <a:ext cx="8412480" cy="640080"/>
          </a:xfrm>
          <a:prstGeom prst="rect">
            <a:avLst/>
          </a:prstGeom>
          <a:solidFill>
            <a:srgbClr val="060D1C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Hamilton for Tecan means replacing two method bodies in instruments.py. The agent loop never changes.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deploy, not just demo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2697480" cy="1463040"/>
          </a:xfrm>
          <a:prstGeom prst="rect">
            <a:avLst/>
          </a:prstGeom>
          <a:solidFill>
            <a:srgbClr val="0D1E35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endpoints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417320"/>
            <a:ext cx="2697480" cy="1463040"/>
          </a:xfrm>
          <a:prstGeom prst="rect">
            <a:avLst/>
          </a:prstGeom>
          <a:solidFill>
            <a:srgbClr val="0D1E35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697480" cy="2560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4173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173736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models at every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instruments,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outputs, campaigns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417320"/>
            <a:ext cx="2697480" cy="1463040"/>
          </a:xfrm>
          <a:prstGeom prst="rect">
            <a:avLst/>
          </a:prstGeom>
          <a:solidFill>
            <a:srgbClr val="0D1E35"/>
          </a:solidFill>
          <a:ln w="12700">
            <a:solidFill>
              <a:srgbClr val="4AD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80760" y="1417320"/>
            <a:ext cx="2697480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80760" y="14173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80760" y="173736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 base image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108960"/>
            <a:ext cx="2697480" cy="1463040"/>
          </a:xfrm>
          <a:prstGeom prst="rect">
            <a:avLst/>
          </a:prstGeom>
          <a:solidFill>
            <a:srgbClr val="0D1E3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108960"/>
            <a:ext cx="269748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1089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342900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Hamilton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dispensing via gather()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3108960"/>
            <a:ext cx="2697480" cy="1463040"/>
          </a:xfrm>
          <a:prstGeom prst="rect">
            <a:avLst/>
          </a:prstGeom>
          <a:solidFill>
            <a:srgbClr val="0D1E35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0" y="3108960"/>
            <a:ext cx="269748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0" y="31089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SDK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342900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Claude API calls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+ Analyze phases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3108960"/>
            <a:ext cx="2697480" cy="1463040"/>
          </a:xfrm>
          <a:prstGeom prst="rect">
            <a:avLst/>
          </a:prstGeom>
          <a:solidFill>
            <a:srgbClr val="0D1E35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80760" y="3108960"/>
            <a:ext cx="2697480" cy="2560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80760" y="31089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6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Redis-ready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342900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store now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swap to Redis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36576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95160" y="36576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06640" y="36576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18120" y="36576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0" y="36576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77724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95160" y="77724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06640" y="77724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818120" y="77724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0" y="77724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83680" y="118872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995160" y="118872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06640" y="118872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818120" y="118872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0" y="118872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83680" y="160020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160020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06640" y="160020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818120" y="160020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29600" y="160020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83680" y="201168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995160" y="201168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406640" y="201168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818120" y="201168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29600" y="201168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914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13258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earn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trust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457200" y="3246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problem is mostly solved.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unsolved problem is building systems scientists trust enough to act on.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reasoning  ·  Human-in-the-loop gates  ·  Auditable convergence metrics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724</Words>
  <Application>Microsoft Office PowerPoint</Application>
  <PresentationFormat>On-screen Show (16:9)</PresentationFormat>
  <Paragraphs>192</Paragraphs>
  <Slides>10</Slides>
  <Notes>10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DMTA Agentic Lab Automation</dc:title>
  <dc:subject>Dimitrios</dc:subject>
  <dc:creator>Dimitrios</dc:creator>
  <cp:lastModifiedBy>Kastrinakis, Dimitrios J</cp:lastModifiedBy>
  <cp:revision>5</cp:revision>
  <dcterms:created xsi:type="dcterms:W3CDTF">2026-05-20T00:01:09Z</dcterms:created>
  <dcterms:modified xsi:type="dcterms:W3CDTF">2026-05-22T14:52:50Z</dcterms:modified>
</cp:coreProperties>
</file>